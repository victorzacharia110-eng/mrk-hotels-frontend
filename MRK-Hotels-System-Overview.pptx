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A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MRK HOTELS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Overview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guest booking to checkout — every module,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workflow, every feature explained.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MRK Hotels?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hotel management platform that replaces every disconnected tool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E8F1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use 5-10 separate tools that don't talk to each other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bookings get lost, rooms get double-booked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 of what's happening across departments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wasted — nobody knows what's in stock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data scattered, reporting takes days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E8F1FA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9164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 for every hotel operation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across all devices via WebSockets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can book online, check their folio, request services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collaborate with built-in WhatsApp-like messaging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inventory, accounting, and reporting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10972800" cy="2743200"/>
          </a:xfrm>
          <a:prstGeom prst="roundRect">
            <a:avLst>
              <a:gd name="adj" fmla="val 4000"/>
            </a:avLst>
          </a:prstGeom>
          <a:solidFill>
            <a:srgbClr val="F0F4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the entire platform, approves hotels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4160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44348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analytics across all their hotels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77840" y="4160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77840" y="44348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check-in/out, payments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955280" y="4160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55280" y="44348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reports, approvals, integrations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332720" y="4160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332720" y="44348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orders, floor map, waiter assignment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5166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4406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tasks, laundry, cleaning schedule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0" y="5166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54406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board, menu management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77840" y="5166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Waiter/Bartender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77840" y="54406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orders on touch-POS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55280" y="5166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55280" y="54406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orders, stock, suppliers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332720" y="5166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332720" y="54406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Ledger, day close, QuickBooks sync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 Journey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discovering the hotel to checking out — every touchpoint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E8F1FA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29844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5EB8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984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browses public hotel directory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hotel details, photos, pricing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18872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E8F1FA"/>
          </a:solidFill>
          <a:ln/>
        </p:spPr>
      </p:sp>
      <p:sp>
        <p:nvSpPr>
          <p:cNvPr id="10" name="Shape 8"/>
          <p:cNvSpPr/>
          <p:nvPr/>
        </p:nvSpPr>
        <p:spPr>
          <a:xfrm>
            <a:off x="4361688" y="129844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468C"/>
          </a:solidFill>
          <a:ln/>
        </p:spPr>
      </p:sp>
      <p:sp>
        <p:nvSpPr>
          <p:cNvPr id="11" name="Text 9"/>
          <p:cNvSpPr/>
          <p:nvPr/>
        </p:nvSpPr>
        <p:spPr>
          <a:xfrm>
            <a:off x="4361688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2984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18288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dates, room type, enters details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Booking.com / STAAH pushes reservation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via mobile money (ClickPesa/Selcom)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18872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E8F1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156448" y="129844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5EB8"/>
          </a:solidFill>
          <a:ln/>
        </p:spPr>
      </p:sp>
      <p:sp>
        <p:nvSpPr>
          <p:cNvPr id="16" name="Text 14"/>
          <p:cNvSpPr/>
          <p:nvPr/>
        </p:nvSpPr>
        <p:spPr>
          <a:xfrm>
            <a:off x="8156448" y="1298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0" y="12984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Pre-Arrival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83880" y="18288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requisition appears for receptionist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assigned based on availability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sent to guest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E8F1FA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413308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468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1330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46634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 checks in guest (one click)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status → Occupied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manager override for early/late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51960" y="402336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E8F1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361688" y="413308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5EB8"/>
          </a:solidFill>
          <a:ln/>
        </p:spPr>
      </p:sp>
      <p:sp>
        <p:nvSpPr>
          <p:cNvPr id="26" name="Text 24"/>
          <p:cNvSpPr/>
          <p:nvPr/>
        </p:nvSpPr>
        <p:spPr>
          <a:xfrm>
            <a:off x="4361688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92040" y="41330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Stay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0" y="46634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F&amp;B orders charged to room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uses self-service portal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requests, laundry, housekeeping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folio updates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402336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E8F1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156448" y="4133088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0468C"/>
          </a:solidFill>
          <a:ln/>
        </p:spPr>
      </p:sp>
      <p:sp>
        <p:nvSpPr>
          <p:cNvPr id="31" name="Text 29"/>
          <p:cNvSpPr/>
          <p:nvPr/>
        </p:nvSpPr>
        <p:spPr>
          <a:xfrm>
            <a:off x="8156448" y="4133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86800" y="41330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Check-Out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83880" y="46634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generated, payments reconciled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downloads invoice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→ Dirty → Housekeeping task created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actually manages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E8F1F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🏨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 &amp; Front Desk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10312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check-in/out, room management, guest profiles, override approvals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18872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E8F1FA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280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🍽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17373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10312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management, multi-outlet POS, kitchen board, waiter assignment, order types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E8F1FA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280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Procurement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10312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tracking, transfers, stock takes, manufacturing, purchase orders, suppliers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98280" y="118872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E8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9098280" y="1280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89720" y="17373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 &amp; Laundry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235440" y="210312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cleaning tasks, supervisor verification, laundry orders, fun games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E8F1F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" y="4526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&amp; Communication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48920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WhatsApp-like chats, group conversations, calls, SOS alerts, announcements, polls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97764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E8F1FA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429000" y="4526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Accounting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0" y="48920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invoices, general ledger, trial balance, day close, QuickBooks sync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97764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E8F1FA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309360" y="4526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55080" y="48920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STAAH channel manager, Booking.com, QuickBooks, ClickPesa/Selcom payments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98280" y="3977640"/>
            <a:ext cx="2697480" cy="2514600"/>
          </a:xfrm>
          <a:prstGeom prst="roundRect">
            <a:avLst>
              <a:gd name="adj" fmla="val 4364"/>
            </a:avLst>
          </a:prstGeom>
          <a:solidFill>
            <a:srgbClr val="E8F1FA"/>
          </a:solidFill>
          <a:ln/>
        </p:spPr>
      </p:sp>
      <p:sp>
        <p:nvSpPr>
          <p:cNvPr id="33" name="Text 31"/>
          <p:cNvSpPr/>
          <p:nvPr/>
        </p:nvSpPr>
        <p:spPr>
          <a:xfrm>
            <a:off x="9098280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189720" y="45262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35440" y="489204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report types: occupancy, revenue, F&amp;B, stock ledger, 18 inventory reports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 Beverage — In Detail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feature-rich module: ordering, kitchen, inventory, cashier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486400" cy="5120640"/>
          </a:xfrm>
          <a:prstGeom prst="roundRect">
            <a:avLst>
              <a:gd name="adj" fmla="val 2143"/>
            </a:avLst>
          </a:prstGeom>
          <a:solidFill>
            <a:srgbClr val="E8F1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arrives → Cashier assigns waiter to table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takes order via touch-POS (select items, qty, modifiers)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checks ingredient stock BEFORE creating order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auto-deducted inside database transaction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board receives order instantly (real-time)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taps dish → status: Ready → Served → Completed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can order via: Dine-in, Take-away, Room Service, Delivery, No-charge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charged to room for hotel guests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orders reverse all inventory deductions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sees live floor map with running timers per table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assignment: one-click unassign or guided 2-step flow</a:t>
            </a:r>
            <a:endParaRPr lang="en-US" sz="11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restaurant outlets per hotel (each with own kitchen)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03520" cy="2286000"/>
          </a:xfrm>
          <a:prstGeom prst="roundRect">
            <a:avLst>
              <a:gd name="adj" fmla="val 4800"/>
            </a:avLst>
          </a:prstGeom>
          <a:solidFill>
            <a:srgbClr val="E8F1F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Protection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6916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 → linked to ingredients via pivot table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Burger = 200g beef + 1 bun + 50g cheese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checkAvailability() → validates stock before order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deductForOrder() → reserves ingredients atomically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reverseForOrder() → undoes deductions on cancel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lockForUpdate() prevents race conditions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657600"/>
            <a:ext cx="5303520" cy="2651760"/>
          </a:xfrm>
          <a:prstGeom prst="roundRect">
            <a:avLst>
              <a:gd name="adj" fmla="val 4138"/>
            </a:avLst>
          </a:prstGeom>
          <a:solidFill>
            <a:srgbClr val="E8F1F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POS Panels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416052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POS — floor map, waiter management, order types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 POS — stock, sales, expenses, cash register, suppliers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Board — single-tap dish status, one screen per outlet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92240" y="512064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panels share real-time data via WebSockets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action on one panel instantly reflects on all others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Procurement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from stock item to supplier payment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303520" cy="2377440"/>
          </a:xfrm>
          <a:prstGeom prst="roundRect">
            <a:avLst>
              <a:gd name="adj" fmla="val 4615"/>
            </a:avLst>
          </a:prstGeom>
          <a:solidFill>
            <a:srgbClr val="E8F1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Lifecycle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items with categories, units, min/max levels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movements tracked on every adjustment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stock takes with variance reporting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transfers between locations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from BOM (Bill of Materials) recipes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alerts and reorder notifications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188720"/>
            <a:ext cx="5303520" cy="2377440"/>
          </a:xfrm>
          <a:prstGeom prst="roundRect">
            <a:avLst>
              <a:gd name="adj" fmla="val 4615"/>
            </a:avLst>
          </a:prstGeom>
          <a:solidFill>
            <a:srgbClr val="E8F1FA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6916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Requisition → Manager Approval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→ Finance Approval → Send to Supplier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Received Note → Stock increases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Returns → Defective items returned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on every step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10972800" cy="2560320"/>
          </a:xfrm>
          <a:prstGeom prst="roundRect">
            <a:avLst>
              <a:gd name="adj" fmla="val 4286"/>
            </a:avLst>
          </a:prstGeom>
          <a:solidFill>
            <a:srgbClr val="E8F1F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&amp; cost centers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directory with contact info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lists (shopping lists for procurement)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 requests between departments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360" y="425196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runs from recipes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Goods returns with reasons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specialized inventory reports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ledger with full movement history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Housekeeping &amp; Communication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management, room operations, and team collaboration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474720" cy="5120640"/>
          </a:xfrm>
          <a:prstGeom prst="roundRect">
            <a:avLst>
              <a:gd name="adj" fmla="val 3158"/>
            </a:avLst>
          </a:prstGeom>
          <a:solidFill>
            <a:srgbClr val="E8F1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Staff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roles with level-based access (20→100)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invitations &amp; onboarding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PIN-based login for tablets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registration &amp; management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attachments &amp; documents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Attendance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in/out with photo + GPS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Anti-cheat: device fingerprint, QR tokens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activity detection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system for violations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request workflow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attendance register for managers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1188720"/>
            <a:ext cx="3474720" cy="5120640"/>
          </a:xfrm>
          <a:prstGeom prst="roundRect">
            <a:avLst>
              <a:gd name="adj" fmla="val 3158"/>
            </a:avLst>
          </a:prstGeom>
          <a:solidFill>
            <a:srgbClr val="E8F1FA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 Housekeeping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cleaning task board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→ Start → Confirm → Verify → Complete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verification step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on guest checkout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8056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Laundry &amp; Fun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886200"/>
            <a:ext cx="3108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Laundry order tracking per guest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status (received → washing → ready)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 game orders for guests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tracking per room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188720"/>
            <a:ext cx="3566160" cy="5120640"/>
          </a:xfrm>
          <a:prstGeom prst="roundRect">
            <a:avLst>
              <a:gd name="adj" fmla="val 3077"/>
            </a:avLst>
          </a:prstGeom>
          <a:solidFill>
            <a:srgbClr val="E8F1FA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Messaging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169164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WhatsApp-like private &amp; group chats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Voice/video call signaling (WebRTC)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receipts &amp; online presence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&amp; starred messages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816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&amp; More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388620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emergency alerts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&amp; polls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templates &amp; scheduling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handovers between staff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location tracking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SMS messaging bridge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Integrations &amp; Guest Portal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flow, third-party connections, and guest self-service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E8F1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recording (cash, mobile, card)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ClickPesa &amp; Selcom mobile money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generation &amp; PDF download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ledger &amp; trial balance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&amp; day close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accounting reports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97680" y="1188720"/>
            <a:ext cx="3474720" cy="2560320"/>
          </a:xfrm>
          <a:prstGeom prst="roundRect">
            <a:avLst>
              <a:gd name="adj" fmla="val 4286"/>
            </a:avLst>
          </a:prstGeom>
          <a:solidFill>
            <a:srgbClr val="E8F1FA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Integrations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0" y="16916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STAAH Channel Manager — sync rooms &amp; rates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— pull reservations, sync availability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Online — OAuth, sync invoices/payments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Webhook-based real-time sync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health dashboard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955280" y="1188720"/>
            <a:ext cx="3566160" cy="2560320"/>
          </a:xfrm>
          <a:prstGeom prst="roundRect">
            <a:avLst>
              <a:gd name="adj" fmla="val 4286"/>
            </a:avLst>
          </a:prstGeom>
          <a:solidFill>
            <a:srgbClr val="E8F1FA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Guest Self-Service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38160" y="169164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booking reference + phone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booking details &amp; status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folio (all charges)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service requests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invoices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10972800" cy="2468880"/>
          </a:xfrm>
          <a:prstGeom prst="roundRect">
            <a:avLst>
              <a:gd name="adj" fmla="val 4444"/>
            </a:avLst>
          </a:prstGeom>
          <a:solidFill>
            <a:srgbClr val="E8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Multi-Tenant &amp; 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hotel is an isolated tenant — zero data leakage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hotel registration &amp; onboarding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plans with feature gating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panel: aggregate analytics across all hotels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Superadmin: approve/suspend hotels, manage plans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branding, backups, and settings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44348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on every action across all modules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broadcasts (hotel-wide &amp; personal)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issue reporting system (any staff can report)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with action-required alerts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Swahili language support</a:t>
            </a:r>
            <a:endParaRPr lang="en-US" sz="11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for tablets and phones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and quality metrics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005EB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13 • MySQL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v1 • Sanctum Auth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Reverb (WebSockets)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schema isolation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188720"/>
            <a:ext cx="3474720" cy="2286000"/>
          </a:xfrm>
          <a:prstGeom prst="roundRect">
            <a:avLst>
              <a:gd name="adj" fmla="val 4800"/>
            </a:avLst>
          </a:prstGeom>
          <a:solidFill>
            <a:srgbClr val="00468C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17373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Composition API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State Management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vue-i18n (EN/SW)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Echo.js Real-time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18872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005EB8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0" y="17373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API Tests (PHPUnit)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Frontend Tests (Vitest)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E2E Tests (Playwright)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green 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10972800" cy="2560320"/>
          </a:xfrm>
          <a:prstGeom prst="roundRect">
            <a:avLst>
              <a:gd name="adj" fmla="val 4286"/>
            </a:avLst>
          </a:prstGeom>
          <a:solidFill>
            <a:srgbClr val="E8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440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74320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Models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22960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Types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0" y="42976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058400" y="4754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Modules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A5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5EB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hotel operation. Real-time.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Laravel 13 + Vue 3 + Laravel Reverb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MRK Hotels — Complete System Overview</dc:title>
  <dc:subject>PptxGenJS Presentation</dc:subject>
  <dc:creator>MRK Hotels</dc:creator>
  <cp:lastModifiedBy>MRK Hotels</cp:lastModifiedBy>
  <cp:revision>1</cp:revision>
  <dcterms:created xsi:type="dcterms:W3CDTF">2026-08-25T11:04:57Z</dcterms:created>
  <dcterms:modified xsi:type="dcterms:W3CDTF">2026-08-25T11:04:57Z</dcterms:modified>
</cp:coreProperties>
</file>